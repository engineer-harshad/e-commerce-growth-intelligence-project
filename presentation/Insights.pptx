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Lst>
  <p:sldSz cy="6858000" cx="12192000"/>
  <p:notesSz cx="6858000" cy="9144000"/>
  <p:embeddedFontLst>
    <p:embeddedFont>
      <p:font typeface="Play"/>
      <p:regular r:id="rId12"/>
      <p:bold r:id="rId1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384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Play-bold.fntdata"/><Relationship Id="rId12" Type="http://schemas.openxmlformats.org/officeDocument/2006/relationships/font" Target="fonts/Play-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7" name="Shape 17"/>
        <p:cNvGrpSpPr/>
        <p:nvPr/>
      </p:nvGrpSpPr>
      <p:grpSpPr>
        <a:xfrm>
          <a:off x="0" y="0"/>
          <a:ext cx="0" cy="0"/>
          <a:chOff x="0" y="0"/>
          <a:chExt cx="0" cy="0"/>
        </a:xfrm>
      </p:grpSpPr>
      <p:sp>
        <p:nvSpPr>
          <p:cNvPr id="18" name="Google Shape;18;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3"/>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 name="Google Shape;21;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4" name="Shape 24"/>
        <p:cNvGrpSpPr/>
        <p:nvPr/>
      </p:nvGrpSpPr>
      <p:grpSpPr>
        <a:xfrm>
          <a:off x="0" y="0"/>
          <a:ext cx="0" cy="0"/>
          <a:chOff x="0" y="0"/>
          <a:chExt cx="0" cy="0"/>
        </a:xfrm>
      </p:grpSpPr>
      <p:sp>
        <p:nvSpPr>
          <p:cNvPr id="25" name="Google Shape;25;p4"/>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4"/>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7" name="Google Shape;27;p4"/>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p4"/>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9" name="Google Shape;29;p4"/>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 name="Google Shape;30;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3" name="Shape 33"/>
        <p:cNvGrpSpPr/>
        <p:nvPr/>
      </p:nvGrpSpPr>
      <p:grpSpPr>
        <a:xfrm>
          <a:off x="0" y="0"/>
          <a:ext cx="0" cy="0"/>
          <a:chOff x="0" y="0"/>
          <a:chExt cx="0" cy="0"/>
        </a:xfrm>
      </p:grpSpPr>
      <p:sp>
        <p:nvSpPr>
          <p:cNvPr id="34" name="Google Shape;34;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9" name="Shape 39"/>
        <p:cNvGrpSpPr/>
        <p:nvPr/>
      </p:nvGrpSpPr>
      <p:grpSpPr>
        <a:xfrm>
          <a:off x="0" y="0"/>
          <a:ext cx="0" cy="0"/>
          <a:chOff x="0" y="0"/>
          <a:chExt cx="0" cy="0"/>
        </a:xfrm>
      </p:grpSpPr>
      <p:sp>
        <p:nvSpPr>
          <p:cNvPr id="40" name="Google Shape;40;p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42" name="Google Shape;42;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5183188" y="987425"/>
            <a:ext cx="6172200" cy="4873625"/>
          </a:xfrm>
          <a:prstGeom prst="rect">
            <a:avLst/>
          </a:prstGeom>
          <a:noFill/>
          <a:ln>
            <a:noFill/>
          </a:ln>
        </p:spPr>
      </p:sp>
      <p:sp>
        <p:nvSpPr>
          <p:cNvPr id="64" name="Google Shape;64;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 name="Google Shape;8;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9" name="Google Shape;9;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 name="Google Shape;10;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Arial"/>
                <a:ea typeface="Arial"/>
                <a:cs typeface="Arial"/>
                <a:sym typeface="Arial"/>
              </a:defRPr>
            </a:lvl1pPr>
            <a:lvl2pPr indent="0" lvl="1" marL="0" marR="0" rtl="0" algn="r">
              <a:spcBef>
                <a:spcPts val="0"/>
              </a:spcBef>
              <a:buNone/>
              <a:defRPr b="0" i="0" sz="1200" u="none" cap="none" strike="noStrike">
                <a:solidFill>
                  <a:srgbClr val="757575"/>
                </a:solidFill>
                <a:latin typeface="Arial"/>
                <a:ea typeface="Arial"/>
                <a:cs typeface="Arial"/>
                <a:sym typeface="Arial"/>
              </a:defRPr>
            </a:lvl2pPr>
            <a:lvl3pPr indent="0" lvl="2" marL="0" marR="0" rtl="0" algn="r">
              <a:spcBef>
                <a:spcPts val="0"/>
              </a:spcBef>
              <a:buNone/>
              <a:defRPr b="0" i="0" sz="1200" u="none" cap="none" strike="noStrike">
                <a:solidFill>
                  <a:srgbClr val="757575"/>
                </a:solidFill>
                <a:latin typeface="Arial"/>
                <a:ea typeface="Arial"/>
                <a:cs typeface="Arial"/>
                <a:sym typeface="Arial"/>
              </a:defRPr>
            </a:lvl3pPr>
            <a:lvl4pPr indent="0" lvl="3" marL="0" marR="0" rtl="0" algn="r">
              <a:spcBef>
                <a:spcPts val="0"/>
              </a:spcBef>
              <a:buNone/>
              <a:defRPr b="0" i="0" sz="1200" u="none" cap="none" strike="noStrike">
                <a:solidFill>
                  <a:srgbClr val="757575"/>
                </a:solidFill>
                <a:latin typeface="Arial"/>
                <a:ea typeface="Arial"/>
                <a:cs typeface="Arial"/>
                <a:sym typeface="Arial"/>
              </a:defRPr>
            </a:lvl4pPr>
            <a:lvl5pPr indent="0" lvl="4" marL="0" marR="0" rtl="0" algn="r">
              <a:spcBef>
                <a:spcPts val="0"/>
              </a:spcBef>
              <a:buNone/>
              <a:defRPr b="0" i="0" sz="1200" u="none" cap="none" strike="noStrike">
                <a:solidFill>
                  <a:srgbClr val="757575"/>
                </a:solidFill>
                <a:latin typeface="Arial"/>
                <a:ea typeface="Arial"/>
                <a:cs typeface="Arial"/>
                <a:sym typeface="Arial"/>
              </a:defRPr>
            </a:lvl5pPr>
            <a:lvl6pPr indent="0" lvl="5" marL="0" marR="0" rtl="0" algn="r">
              <a:spcBef>
                <a:spcPts val="0"/>
              </a:spcBef>
              <a:buNone/>
              <a:defRPr b="0" i="0" sz="1200" u="none" cap="none" strike="noStrike">
                <a:solidFill>
                  <a:srgbClr val="757575"/>
                </a:solidFill>
                <a:latin typeface="Arial"/>
                <a:ea typeface="Arial"/>
                <a:cs typeface="Arial"/>
                <a:sym typeface="Arial"/>
              </a:defRPr>
            </a:lvl6pPr>
            <a:lvl7pPr indent="0" lvl="6" marL="0" marR="0" rtl="0" algn="r">
              <a:spcBef>
                <a:spcPts val="0"/>
              </a:spcBef>
              <a:buNone/>
              <a:defRPr b="0" i="0" sz="1200" u="none" cap="none" strike="noStrike">
                <a:solidFill>
                  <a:srgbClr val="757575"/>
                </a:solidFill>
                <a:latin typeface="Arial"/>
                <a:ea typeface="Arial"/>
                <a:cs typeface="Arial"/>
                <a:sym typeface="Arial"/>
              </a:defRPr>
            </a:lvl7pPr>
            <a:lvl8pPr indent="0" lvl="7" marL="0" marR="0" rtl="0" algn="r">
              <a:spcBef>
                <a:spcPts val="0"/>
              </a:spcBef>
              <a:buNone/>
              <a:defRPr b="0" i="0" sz="1200" u="none" cap="none" strike="noStrike">
                <a:solidFill>
                  <a:srgbClr val="757575"/>
                </a:solidFill>
                <a:latin typeface="Arial"/>
                <a:ea typeface="Arial"/>
                <a:cs typeface="Arial"/>
                <a:sym typeface="Arial"/>
              </a:defRPr>
            </a:lvl8pPr>
            <a:lvl9pPr indent="0" lvl="8" marL="0" marR="0" rtl="0" algn="r">
              <a:spcBef>
                <a:spcPts val="0"/>
              </a:spcBef>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3"/>
          <p:cNvSpPr txBox="1"/>
          <p:nvPr>
            <p:ph type="ctrTitle"/>
          </p:nvPr>
        </p:nvSpPr>
        <p:spPr>
          <a:xfrm>
            <a:off x="1571625" y="1927113"/>
            <a:ext cx="9144000" cy="2387700"/>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Play"/>
              <a:buNone/>
            </a:pPr>
            <a:r>
              <a:rPr b="1" lang="en-US"/>
              <a:t>E-Commerce Growth Intelligence</a:t>
            </a:r>
            <a:endParaRPr b="1"/>
          </a:p>
          <a:p>
            <a:pPr indent="0" lvl="0" marL="0" rtl="0" algn="ctr">
              <a:lnSpc>
                <a:spcPct val="90000"/>
              </a:lnSpc>
              <a:spcBef>
                <a:spcPts val="0"/>
              </a:spcBef>
              <a:spcAft>
                <a:spcPts val="0"/>
              </a:spcAft>
              <a:buClr>
                <a:schemeClr val="dk1"/>
              </a:buClr>
              <a:buSzPct val="100000"/>
              <a:buFont typeface="Play"/>
              <a:buNone/>
            </a:pPr>
            <a:r>
              <a:t/>
            </a:r>
            <a:endParaRPr b="1"/>
          </a:p>
          <a:p>
            <a:pPr indent="0" lvl="0" marL="0" rtl="0" algn="ctr">
              <a:lnSpc>
                <a:spcPct val="90000"/>
              </a:lnSpc>
              <a:spcBef>
                <a:spcPts val="0"/>
              </a:spcBef>
              <a:spcAft>
                <a:spcPts val="0"/>
              </a:spcAft>
              <a:buClr>
                <a:schemeClr val="dk1"/>
              </a:buClr>
              <a:buSzPct val="122727"/>
              <a:buFont typeface="Play"/>
              <a:buNone/>
            </a:pPr>
            <a:r>
              <a:rPr lang="en-US" sz="4889"/>
              <a:t>Data Analysis Insights</a:t>
            </a:r>
            <a:endParaRPr sz="4889"/>
          </a:p>
        </p:txBody>
      </p:sp>
      <p:sp>
        <p:nvSpPr>
          <p:cNvPr id="85" name="Google Shape;85;p13"/>
          <p:cNvSpPr txBox="1"/>
          <p:nvPr>
            <p:ph idx="1" type="subTitle"/>
          </p:nvPr>
        </p:nvSpPr>
        <p:spPr>
          <a:xfrm>
            <a:off x="1419225" y="4497388"/>
            <a:ext cx="9144000" cy="16557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US" sz="2000"/>
              <a:t>Harshad Deshmukh</a:t>
            </a:r>
            <a:endParaRPr sz="20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4"/>
          <p:cNvSpPr txBox="1"/>
          <p:nvPr>
            <p:ph type="title"/>
          </p:nvPr>
        </p:nvSpPr>
        <p:spPr>
          <a:xfrm>
            <a:off x="10287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Overview</a:t>
            </a:r>
            <a:endParaRPr/>
          </a:p>
        </p:txBody>
      </p:sp>
      <p:pic>
        <p:nvPicPr>
          <p:cNvPr id="91" name="Google Shape;91;p14" title="dash1.png"/>
          <p:cNvPicPr preferRelativeResize="0"/>
          <p:nvPr/>
        </p:nvPicPr>
        <p:blipFill rotWithShape="1">
          <a:blip r:embed="rId3">
            <a:alphaModFix/>
          </a:blip>
          <a:srcRect b="0" l="0" r="0" t="9396"/>
          <a:stretch/>
        </p:blipFill>
        <p:spPr>
          <a:xfrm>
            <a:off x="4364900" y="1825630"/>
            <a:ext cx="7509350" cy="4185257"/>
          </a:xfrm>
          <a:prstGeom prst="rect">
            <a:avLst/>
          </a:prstGeom>
          <a:noFill/>
          <a:ln>
            <a:noFill/>
          </a:ln>
        </p:spPr>
      </p:pic>
      <p:sp>
        <p:nvSpPr>
          <p:cNvPr id="92" name="Google Shape;92;p14"/>
          <p:cNvSpPr txBox="1"/>
          <p:nvPr>
            <p:ph idx="1" type="body"/>
          </p:nvPr>
        </p:nvSpPr>
        <p:spPr>
          <a:xfrm>
            <a:off x="406175" y="1825625"/>
            <a:ext cx="3644400" cy="4351200"/>
          </a:xfrm>
          <a:prstGeom prst="rect">
            <a:avLst/>
          </a:prstGeom>
          <a:noFill/>
          <a:ln>
            <a:noFill/>
          </a:ln>
        </p:spPr>
        <p:txBody>
          <a:bodyPr anchorCtr="0" anchor="t" bIns="45700" lIns="91425" spcFirstLastPara="1" rIns="91425" wrap="square" tIns="45700">
            <a:normAutofit fontScale="47500" lnSpcReduction="10000"/>
          </a:bodyPr>
          <a:lstStyle/>
          <a:p>
            <a:pPr indent="-228600" lvl="0" marL="228600" rtl="0" algn="l">
              <a:lnSpc>
                <a:spcPct val="160000"/>
              </a:lnSpc>
              <a:spcBef>
                <a:spcPts val="0"/>
              </a:spcBef>
              <a:spcAft>
                <a:spcPts val="0"/>
              </a:spcAft>
              <a:buClr>
                <a:schemeClr val="dk1"/>
              </a:buClr>
              <a:buSzPct val="100000"/>
              <a:buChar char="•"/>
            </a:pPr>
            <a:r>
              <a:rPr b="1" lang="en-US" sz="2000"/>
              <a:t>Decreased Conversion Rates: </a:t>
            </a:r>
            <a:r>
              <a:rPr lang="en-US" sz="2000"/>
              <a:t>The conversion rate demonstrated a strong rebound in December, reaching 10.3%, despite a notable dip to 5.1% in October.</a:t>
            </a:r>
            <a:endParaRPr/>
          </a:p>
          <a:p>
            <a:pPr indent="-228600" lvl="0" marL="228600" rtl="0" algn="l">
              <a:lnSpc>
                <a:spcPct val="160000"/>
              </a:lnSpc>
              <a:spcBef>
                <a:spcPts val="1000"/>
              </a:spcBef>
              <a:spcAft>
                <a:spcPts val="0"/>
              </a:spcAft>
              <a:buClr>
                <a:schemeClr val="dk1"/>
              </a:buClr>
              <a:buSzPct val="100000"/>
              <a:buChar char="•"/>
            </a:pPr>
            <a:r>
              <a:rPr b="1" lang="en-US" sz="2000"/>
              <a:t>Reduced Customer Engagement:</a:t>
            </a:r>
            <a:endParaRPr/>
          </a:p>
          <a:p>
            <a:pPr indent="-228600" lvl="1" marL="685800" rtl="0" algn="l">
              <a:lnSpc>
                <a:spcPct val="160000"/>
              </a:lnSpc>
              <a:spcBef>
                <a:spcPts val="500"/>
              </a:spcBef>
              <a:spcAft>
                <a:spcPts val="0"/>
              </a:spcAft>
              <a:buClr>
                <a:schemeClr val="dk1"/>
              </a:buClr>
              <a:buSzPct val="100000"/>
              <a:buChar char="•"/>
            </a:pPr>
            <a:r>
              <a:rPr lang="en-US" sz="2000"/>
              <a:t>There is a decline in overall social media engagement, with views dropping throughout the year.</a:t>
            </a:r>
            <a:endParaRPr/>
          </a:p>
          <a:p>
            <a:pPr indent="-228600" lvl="1" marL="685800" rtl="0" algn="l">
              <a:lnSpc>
                <a:spcPct val="160000"/>
              </a:lnSpc>
              <a:spcBef>
                <a:spcPts val="500"/>
              </a:spcBef>
              <a:spcAft>
                <a:spcPts val="0"/>
              </a:spcAft>
              <a:buClr>
                <a:schemeClr val="dk1"/>
              </a:buClr>
              <a:buSzPct val="100000"/>
              <a:buChar char="•"/>
            </a:pPr>
            <a:r>
              <a:rPr lang="en-US" sz="2000"/>
              <a:t>While clicks and likes are low compared to views, the click-through rate stands at 15.37%, meaning that engaged users are still interacting effectively.</a:t>
            </a:r>
            <a:endParaRPr/>
          </a:p>
          <a:p>
            <a:pPr indent="-228600" lvl="0" marL="228600" rtl="0" algn="l">
              <a:lnSpc>
                <a:spcPct val="160000"/>
              </a:lnSpc>
              <a:spcBef>
                <a:spcPts val="1000"/>
              </a:spcBef>
              <a:spcAft>
                <a:spcPts val="0"/>
              </a:spcAft>
              <a:buClr>
                <a:schemeClr val="dk1"/>
              </a:buClr>
              <a:buSzPct val="100000"/>
              <a:buChar char="•"/>
            </a:pPr>
            <a:r>
              <a:rPr b="1" lang="en-US" sz="2000"/>
              <a:t>Customer Feedback Analysis:</a:t>
            </a:r>
            <a:endParaRPr/>
          </a:p>
          <a:p>
            <a:pPr indent="-228600" lvl="1" marL="685800" rtl="0" algn="l">
              <a:lnSpc>
                <a:spcPct val="160000"/>
              </a:lnSpc>
              <a:spcBef>
                <a:spcPts val="500"/>
              </a:spcBef>
              <a:spcAft>
                <a:spcPts val="0"/>
              </a:spcAft>
              <a:buClr>
                <a:schemeClr val="dk1"/>
              </a:buClr>
              <a:buSzPct val="100000"/>
              <a:buChar char="•"/>
            </a:pPr>
            <a:r>
              <a:rPr lang="en-US" sz="2000"/>
              <a:t>Customer ratings have remained consistent, averaging around 3.67 throughout the year.</a:t>
            </a:r>
            <a:endParaRPr/>
          </a:p>
          <a:p>
            <a:pPr indent="-228600" lvl="1" marL="685800" rtl="0" algn="l">
              <a:lnSpc>
                <a:spcPct val="160000"/>
              </a:lnSpc>
              <a:spcBef>
                <a:spcPts val="500"/>
              </a:spcBef>
              <a:spcAft>
                <a:spcPts val="0"/>
              </a:spcAft>
              <a:buClr>
                <a:schemeClr val="dk1"/>
              </a:buClr>
              <a:buSzPct val="100000"/>
              <a:buChar char="•"/>
            </a:pPr>
            <a:r>
              <a:rPr lang="en-US" sz="2000"/>
              <a:t>Although stable, the average rating is below the target of 4.0, suggesting a need for focused improvements in customer satisfaction, for products below 3,5.</a:t>
            </a:r>
            <a:endParaRPr sz="2000"/>
          </a:p>
        </p:txBody>
      </p:sp>
      <p:cxnSp>
        <p:nvCxnSpPr>
          <p:cNvPr id="93" name="Google Shape;93;p14"/>
          <p:cNvCxnSpPr/>
          <p:nvPr/>
        </p:nvCxnSpPr>
        <p:spPr>
          <a:xfrm>
            <a:off x="10780855" y="3524250"/>
            <a:ext cx="982500" cy="266700"/>
          </a:xfrm>
          <a:prstGeom prst="straightConnector1">
            <a:avLst/>
          </a:prstGeom>
          <a:noFill/>
          <a:ln cap="flat" cmpd="sng" w="57150">
            <a:solidFill>
              <a:srgbClr val="FF0000"/>
            </a:solidFill>
            <a:prstDash val="solid"/>
            <a:round/>
            <a:headEnd len="sm" w="sm" type="none"/>
            <a:tailEnd len="med" w="med" type="stealth"/>
          </a:ln>
        </p:spPr>
      </p:cxnSp>
      <p:sp>
        <p:nvSpPr>
          <p:cNvPr id="94" name="Google Shape;94;p14"/>
          <p:cNvSpPr/>
          <p:nvPr/>
        </p:nvSpPr>
        <p:spPr>
          <a:xfrm>
            <a:off x="8772600" y="2059400"/>
            <a:ext cx="971400" cy="788700"/>
          </a:xfrm>
          <a:prstGeom prst="ellipse">
            <a:avLst/>
          </a:prstGeom>
          <a:noFill/>
          <a:ln cap="flat" cmpd="sng" w="38100">
            <a:solidFill>
              <a:srgbClr val="FF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95" name="Google Shape;95;p14"/>
          <p:cNvSpPr/>
          <p:nvPr/>
        </p:nvSpPr>
        <p:spPr>
          <a:xfrm>
            <a:off x="8439150" y="4972050"/>
            <a:ext cx="1171500" cy="609600"/>
          </a:xfrm>
          <a:prstGeom prst="rect">
            <a:avLst/>
          </a:prstGeom>
          <a:noFill/>
          <a:ln cap="flat" cmpd="sng" w="38100">
            <a:solidFill>
              <a:srgbClr val="FF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Decreased Conversion Rates</a:t>
            </a:r>
            <a:endParaRPr/>
          </a:p>
        </p:txBody>
      </p:sp>
      <p:sp>
        <p:nvSpPr>
          <p:cNvPr id="101" name="Google Shape;101;p1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fontScale="40000" lnSpcReduction="10000"/>
          </a:bodyPr>
          <a:lstStyle/>
          <a:p>
            <a:pPr indent="-228600" lvl="0" marL="228600" rtl="0" algn="l">
              <a:lnSpc>
                <a:spcPct val="170000"/>
              </a:lnSpc>
              <a:spcBef>
                <a:spcPts val="0"/>
              </a:spcBef>
              <a:spcAft>
                <a:spcPts val="0"/>
              </a:spcAft>
              <a:buClr>
                <a:schemeClr val="dk1"/>
              </a:buClr>
              <a:buSzPct val="100000"/>
              <a:buChar char="•"/>
            </a:pPr>
            <a:r>
              <a:rPr b="1" lang="en-US"/>
              <a:t>General Conversion Trend:</a:t>
            </a:r>
            <a:endParaRPr/>
          </a:p>
          <a:p>
            <a:pPr indent="-228600" lvl="1" marL="685800" rtl="0" algn="l">
              <a:lnSpc>
                <a:spcPct val="170000"/>
              </a:lnSpc>
              <a:spcBef>
                <a:spcPts val="500"/>
              </a:spcBef>
              <a:spcAft>
                <a:spcPts val="0"/>
              </a:spcAft>
              <a:buClr>
                <a:schemeClr val="dk1"/>
              </a:buClr>
              <a:buSzPct val="100000"/>
              <a:buChar char="•"/>
            </a:pPr>
            <a:r>
              <a:rPr lang="en-US"/>
              <a:t>Throughout the year, conversion rates varied, with higher numbers of products converting successfully in months like January and September. This suggests that while some products had strong seasonal peaks, there is potential to improve conversions in lower-performing months through targeted interventions.</a:t>
            </a:r>
            <a:endParaRPr/>
          </a:p>
          <a:p>
            <a:pPr indent="-228600" lvl="0" marL="228600" rtl="0" algn="l">
              <a:lnSpc>
                <a:spcPct val="170000"/>
              </a:lnSpc>
              <a:spcBef>
                <a:spcPts val="1000"/>
              </a:spcBef>
              <a:spcAft>
                <a:spcPts val="0"/>
              </a:spcAft>
              <a:buClr>
                <a:schemeClr val="dk1"/>
              </a:buClr>
              <a:buSzPct val="100000"/>
              <a:buChar char="•"/>
            </a:pPr>
            <a:r>
              <a:rPr b="1" lang="en-US"/>
              <a:t>Lowest Conversion Month:</a:t>
            </a:r>
            <a:endParaRPr/>
          </a:p>
          <a:p>
            <a:pPr indent="-228600" lvl="1" marL="685800" rtl="0" algn="l">
              <a:lnSpc>
                <a:spcPct val="170000"/>
              </a:lnSpc>
              <a:spcBef>
                <a:spcPts val="500"/>
              </a:spcBef>
              <a:spcAft>
                <a:spcPts val="0"/>
              </a:spcAft>
              <a:buClr>
                <a:schemeClr val="dk1"/>
              </a:buClr>
              <a:buSzPct val="100000"/>
              <a:buChar char="•"/>
            </a:pPr>
            <a:r>
              <a:rPr lang="en-US"/>
              <a:t>May experienced the lowest overall conversion rate at 4.5%, with no products standing out significantly in terms of conversion. This indicates a potential need to revisit marketing strategies or promotions during this period to boost performance.</a:t>
            </a:r>
            <a:endParaRPr/>
          </a:p>
          <a:p>
            <a:pPr indent="-228600" lvl="0" marL="228600" rtl="0" algn="l">
              <a:lnSpc>
                <a:spcPct val="170000"/>
              </a:lnSpc>
              <a:spcBef>
                <a:spcPts val="1000"/>
              </a:spcBef>
              <a:spcAft>
                <a:spcPts val="0"/>
              </a:spcAft>
              <a:buClr>
                <a:schemeClr val="dk1"/>
              </a:buClr>
              <a:buSzPct val="100000"/>
              <a:buChar char="•"/>
            </a:pPr>
            <a:r>
              <a:rPr b="1" lang="en-US"/>
              <a:t>Highest Conversion Rates:</a:t>
            </a:r>
            <a:endParaRPr/>
          </a:p>
          <a:p>
            <a:pPr indent="-228600" lvl="1" marL="685800" rtl="0" algn="l">
              <a:lnSpc>
                <a:spcPct val="170000"/>
              </a:lnSpc>
              <a:spcBef>
                <a:spcPts val="500"/>
              </a:spcBef>
              <a:spcAft>
                <a:spcPts val="0"/>
              </a:spcAft>
              <a:buClr>
                <a:schemeClr val="dk1"/>
              </a:buClr>
              <a:buSzPct val="100000"/>
              <a:buChar char="•"/>
            </a:pPr>
            <a:r>
              <a:rPr lang="en-US"/>
              <a:t>January recorded the highest overall conversion rate at 19.6%, driven significantly by the Ski Boots with a remarkable 150% conversion. This indicates a strong start to the year, likely fueled by seasonal demand and effective marketing strategies.</a:t>
            </a:r>
            <a:endParaRPr/>
          </a:p>
        </p:txBody>
      </p:sp>
      <p:pic>
        <p:nvPicPr>
          <p:cNvPr id="102" name="Google Shape;102;p15" title="Screenshot 2026-06-19 153615.png"/>
          <p:cNvPicPr preferRelativeResize="0"/>
          <p:nvPr/>
        </p:nvPicPr>
        <p:blipFill>
          <a:blip r:embed="rId3">
            <a:alphaModFix/>
          </a:blip>
          <a:stretch>
            <a:fillRect/>
          </a:stretch>
        </p:blipFill>
        <p:spPr>
          <a:xfrm>
            <a:off x="6448425" y="2455950"/>
            <a:ext cx="5029200" cy="2771775"/>
          </a:xfrm>
          <a:prstGeom prst="rect">
            <a:avLst/>
          </a:prstGeom>
          <a:noFill/>
          <a:ln>
            <a:noFill/>
          </a:ln>
        </p:spPr>
      </p:pic>
      <p:sp>
        <p:nvSpPr>
          <p:cNvPr id="103" name="Google Shape;103;p15"/>
          <p:cNvSpPr/>
          <p:nvPr/>
        </p:nvSpPr>
        <p:spPr>
          <a:xfrm>
            <a:off x="8515350" y="2455925"/>
            <a:ext cx="295200" cy="2771700"/>
          </a:xfrm>
          <a:prstGeom prst="rect">
            <a:avLst/>
          </a:prstGeom>
          <a:noFill/>
          <a:ln cap="flat" cmpd="sng" w="38100">
            <a:solidFill>
              <a:srgbClr val="FF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04" name="Google Shape;104;p15"/>
          <p:cNvSpPr/>
          <p:nvPr/>
        </p:nvSpPr>
        <p:spPr>
          <a:xfrm>
            <a:off x="7154725" y="2455950"/>
            <a:ext cx="369900" cy="2771700"/>
          </a:xfrm>
          <a:prstGeom prst="rect">
            <a:avLst/>
          </a:prstGeom>
          <a:noFill/>
          <a:ln cap="flat" cmpd="sng" w="38100">
            <a:solidFill>
              <a:srgbClr val="3A7D2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Reduced Customer Engagement</a:t>
            </a:r>
            <a:endParaRPr/>
          </a:p>
        </p:txBody>
      </p:sp>
      <p:sp>
        <p:nvSpPr>
          <p:cNvPr id="110" name="Google Shape;110;p1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fontScale="55000" lnSpcReduction="20000"/>
          </a:bodyPr>
          <a:lstStyle/>
          <a:p>
            <a:pPr indent="-228600" lvl="0" marL="228600" rtl="0" algn="l">
              <a:lnSpc>
                <a:spcPct val="170000"/>
              </a:lnSpc>
              <a:spcBef>
                <a:spcPts val="0"/>
              </a:spcBef>
              <a:spcAft>
                <a:spcPts val="0"/>
              </a:spcAft>
              <a:buClr>
                <a:schemeClr val="dk1"/>
              </a:buClr>
              <a:buSzPct val="100000"/>
              <a:buChar char="•"/>
            </a:pPr>
            <a:r>
              <a:rPr b="1" lang="en-US"/>
              <a:t>Declining Views:</a:t>
            </a:r>
            <a:endParaRPr/>
          </a:p>
          <a:p>
            <a:pPr indent="-228600" lvl="1" marL="685800" rtl="0" algn="l">
              <a:lnSpc>
                <a:spcPct val="170000"/>
              </a:lnSpc>
              <a:spcBef>
                <a:spcPts val="500"/>
              </a:spcBef>
              <a:spcAft>
                <a:spcPts val="0"/>
              </a:spcAft>
              <a:buClr>
                <a:schemeClr val="dk1"/>
              </a:buClr>
              <a:buSzPct val="100000"/>
              <a:buChar char="•"/>
            </a:pPr>
            <a:r>
              <a:rPr lang="en-US"/>
              <a:t>Views peaked in February and July but declined from August and on, indicating reduced audience engagement in the later half of the year.</a:t>
            </a:r>
            <a:endParaRPr/>
          </a:p>
          <a:p>
            <a:pPr indent="-228600" lvl="0" marL="228600" rtl="0" algn="l">
              <a:lnSpc>
                <a:spcPct val="170000"/>
              </a:lnSpc>
              <a:spcBef>
                <a:spcPts val="1000"/>
              </a:spcBef>
              <a:spcAft>
                <a:spcPts val="0"/>
              </a:spcAft>
              <a:buClr>
                <a:schemeClr val="dk1"/>
              </a:buClr>
              <a:buSzPct val="100000"/>
              <a:buChar char="•"/>
            </a:pPr>
            <a:r>
              <a:rPr b="1" lang="en-US"/>
              <a:t>Low Interaction Rates:</a:t>
            </a:r>
            <a:endParaRPr/>
          </a:p>
          <a:p>
            <a:pPr indent="-228600" lvl="1" marL="685800" rtl="0" algn="l">
              <a:lnSpc>
                <a:spcPct val="170000"/>
              </a:lnSpc>
              <a:spcBef>
                <a:spcPts val="500"/>
              </a:spcBef>
              <a:spcAft>
                <a:spcPts val="0"/>
              </a:spcAft>
              <a:buClr>
                <a:schemeClr val="dk1"/>
              </a:buClr>
              <a:buSzPct val="100000"/>
              <a:buChar char="•"/>
            </a:pPr>
            <a:r>
              <a:rPr lang="en-US"/>
              <a:t>Clicks and likes remained consistently low compared to views, suggesting the need for more engaging content or stronger calls to action.</a:t>
            </a:r>
            <a:endParaRPr/>
          </a:p>
          <a:p>
            <a:pPr indent="-228600" lvl="0" marL="228600" rtl="0" algn="l">
              <a:lnSpc>
                <a:spcPct val="170000"/>
              </a:lnSpc>
              <a:spcBef>
                <a:spcPts val="1000"/>
              </a:spcBef>
              <a:spcAft>
                <a:spcPts val="0"/>
              </a:spcAft>
              <a:buClr>
                <a:schemeClr val="dk1"/>
              </a:buClr>
              <a:buSzPct val="100000"/>
              <a:buChar char="•"/>
            </a:pPr>
            <a:r>
              <a:rPr b="1" lang="en-US"/>
              <a:t>Content Type Performance:</a:t>
            </a:r>
            <a:endParaRPr/>
          </a:p>
          <a:p>
            <a:pPr indent="-228600" lvl="1" marL="685800" rtl="0" algn="l">
              <a:lnSpc>
                <a:spcPct val="170000"/>
              </a:lnSpc>
              <a:spcBef>
                <a:spcPts val="500"/>
              </a:spcBef>
              <a:spcAft>
                <a:spcPts val="0"/>
              </a:spcAft>
              <a:buClr>
                <a:schemeClr val="dk1"/>
              </a:buClr>
              <a:buSzPct val="100000"/>
              <a:buChar char="•"/>
            </a:pPr>
            <a:r>
              <a:rPr lang="en-US"/>
              <a:t>Blog content drove the most views, especially in March and May, while social media and video content maintained steady but slightly lower engagement.</a:t>
            </a:r>
            <a:endParaRPr/>
          </a:p>
        </p:txBody>
      </p:sp>
      <p:pic>
        <p:nvPicPr>
          <p:cNvPr id="111" name="Google Shape;111;p16" title="Screenshot 2026-06-19 150833.png"/>
          <p:cNvPicPr preferRelativeResize="0"/>
          <p:nvPr/>
        </p:nvPicPr>
        <p:blipFill>
          <a:blip r:embed="rId3">
            <a:alphaModFix/>
          </a:blip>
          <a:stretch>
            <a:fillRect/>
          </a:stretch>
        </p:blipFill>
        <p:spPr>
          <a:xfrm>
            <a:off x="6740375" y="1825625"/>
            <a:ext cx="3748525" cy="2081034"/>
          </a:xfrm>
          <a:prstGeom prst="rect">
            <a:avLst/>
          </a:prstGeom>
          <a:noFill/>
          <a:ln>
            <a:noFill/>
          </a:ln>
        </p:spPr>
      </p:pic>
      <p:cxnSp>
        <p:nvCxnSpPr>
          <p:cNvPr id="112" name="Google Shape;112;p16"/>
          <p:cNvCxnSpPr/>
          <p:nvPr/>
        </p:nvCxnSpPr>
        <p:spPr>
          <a:xfrm>
            <a:off x="8376512" y="2297212"/>
            <a:ext cx="1388700" cy="345600"/>
          </a:xfrm>
          <a:prstGeom prst="straightConnector1">
            <a:avLst/>
          </a:prstGeom>
          <a:noFill/>
          <a:ln cap="flat" cmpd="sng" w="57150">
            <a:solidFill>
              <a:srgbClr val="FF0000"/>
            </a:solidFill>
            <a:prstDash val="solid"/>
            <a:round/>
            <a:headEnd len="sm" w="sm" type="none"/>
            <a:tailEnd len="med" w="med" type="stealth"/>
          </a:ln>
        </p:spPr>
      </p:cxnSp>
      <p:pic>
        <p:nvPicPr>
          <p:cNvPr id="113" name="Google Shape;113;p16" title="Screenshot 2026-06-19 150855.png"/>
          <p:cNvPicPr preferRelativeResize="0"/>
          <p:nvPr/>
        </p:nvPicPr>
        <p:blipFill>
          <a:blip r:embed="rId4">
            <a:alphaModFix/>
          </a:blip>
          <a:stretch>
            <a:fillRect/>
          </a:stretch>
        </p:blipFill>
        <p:spPr>
          <a:xfrm>
            <a:off x="6740375" y="4129896"/>
            <a:ext cx="3748525" cy="204706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Customer Feedback Analysis</a:t>
            </a:r>
            <a:endParaRPr/>
          </a:p>
        </p:txBody>
      </p:sp>
      <p:sp>
        <p:nvSpPr>
          <p:cNvPr id="119" name="Google Shape;119;p1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fontScale="40000" lnSpcReduction="20000"/>
          </a:bodyPr>
          <a:lstStyle/>
          <a:p>
            <a:pPr indent="-228600" lvl="0" marL="228600" rtl="0" algn="l">
              <a:lnSpc>
                <a:spcPct val="170000"/>
              </a:lnSpc>
              <a:spcBef>
                <a:spcPts val="0"/>
              </a:spcBef>
              <a:spcAft>
                <a:spcPts val="0"/>
              </a:spcAft>
              <a:buClr>
                <a:schemeClr val="dk1"/>
              </a:buClr>
              <a:buSzPct val="100000"/>
              <a:buChar char="•"/>
            </a:pPr>
            <a:r>
              <a:rPr b="1" lang="en-US"/>
              <a:t>Customer Ratings Distribution:</a:t>
            </a:r>
            <a:endParaRPr/>
          </a:p>
          <a:p>
            <a:pPr indent="-228600" lvl="1" marL="685800" rtl="0" algn="l">
              <a:lnSpc>
                <a:spcPct val="170000"/>
              </a:lnSpc>
              <a:spcBef>
                <a:spcPts val="500"/>
              </a:spcBef>
              <a:spcAft>
                <a:spcPts val="0"/>
              </a:spcAft>
              <a:buClr>
                <a:schemeClr val="dk1"/>
              </a:buClr>
              <a:buSzPct val="100000"/>
              <a:buChar char="•"/>
            </a:pPr>
            <a:r>
              <a:rPr lang="en-US"/>
              <a:t>The majority of customer reviews are in the higher ratings, with 140 reviews at 4 stars and 135 reviews at 5 stars, indicating overall positive feedback. Lower ratings (1-2 stars) account for a smaller proportion, with 26 reviews at 1 star and 57 reviews at 2 stars.</a:t>
            </a:r>
            <a:endParaRPr/>
          </a:p>
          <a:p>
            <a:pPr indent="-228600" lvl="0" marL="228600" rtl="0" algn="l">
              <a:lnSpc>
                <a:spcPct val="170000"/>
              </a:lnSpc>
              <a:spcBef>
                <a:spcPts val="1000"/>
              </a:spcBef>
              <a:spcAft>
                <a:spcPts val="0"/>
              </a:spcAft>
              <a:buClr>
                <a:schemeClr val="dk1"/>
              </a:buClr>
              <a:buSzPct val="100000"/>
              <a:buChar char="•"/>
            </a:pPr>
            <a:r>
              <a:rPr b="1" lang="en-US"/>
              <a:t>Sentiment Analysis:</a:t>
            </a:r>
            <a:endParaRPr/>
          </a:p>
          <a:p>
            <a:pPr indent="-228600" lvl="1" marL="685800" rtl="0" algn="l">
              <a:lnSpc>
                <a:spcPct val="170000"/>
              </a:lnSpc>
              <a:spcBef>
                <a:spcPts val="500"/>
              </a:spcBef>
              <a:spcAft>
                <a:spcPts val="0"/>
              </a:spcAft>
              <a:buClr>
                <a:schemeClr val="dk1"/>
              </a:buClr>
              <a:buSzPct val="100000"/>
              <a:buChar char="•"/>
            </a:pPr>
            <a:r>
              <a:rPr lang="en-US"/>
              <a:t>Positive sentiment dominates with 275 reviews, reflecting a generally satisfied customer base. Negative sentiment is present in 82 reviews, with a smaller number of mixed and neutral sentiments, suggesting some areas for improvement but overall strong customer approval.</a:t>
            </a:r>
            <a:endParaRPr/>
          </a:p>
          <a:p>
            <a:pPr indent="-228600" lvl="0" marL="228600" rtl="0" algn="l">
              <a:lnSpc>
                <a:spcPct val="170000"/>
              </a:lnSpc>
              <a:spcBef>
                <a:spcPts val="1000"/>
              </a:spcBef>
              <a:spcAft>
                <a:spcPts val="0"/>
              </a:spcAft>
              <a:buClr>
                <a:schemeClr val="dk1"/>
              </a:buClr>
              <a:buSzPct val="100000"/>
              <a:buChar char="•"/>
            </a:pPr>
            <a:r>
              <a:rPr b="1" lang="en-US"/>
              <a:t>Opportunity for Improvement:</a:t>
            </a:r>
            <a:endParaRPr/>
          </a:p>
          <a:p>
            <a:pPr indent="-228600" lvl="1" marL="685800" rtl="0" algn="l">
              <a:lnSpc>
                <a:spcPct val="170000"/>
              </a:lnSpc>
              <a:spcBef>
                <a:spcPts val="500"/>
              </a:spcBef>
              <a:spcAft>
                <a:spcPts val="0"/>
              </a:spcAft>
              <a:buClr>
                <a:schemeClr val="dk1"/>
              </a:buClr>
              <a:buSzPct val="100000"/>
              <a:buChar char="•"/>
            </a:pPr>
            <a:r>
              <a:rPr lang="en-US"/>
              <a:t>The presence of mixed positive and mixed negative sentiments suggests that there are opportunities to convert those mixed experiences into more clearly positive ones, potentially boosting overall ratings. Addressing the specific concerns in mixed reviews could elevate customer satisfaction.</a:t>
            </a:r>
            <a:endParaRPr/>
          </a:p>
        </p:txBody>
      </p:sp>
      <p:pic>
        <p:nvPicPr>
          <p:cNvPr id="120" name="Google Shape;120;p17" title="Screenshot 2026-06-19 152040.png"/>
          <p:cNvPicPr preferRelativeResize="0"/>
          <p:nvPr/>
        </p:nvPicPr>
        <p:blipFill>
          <a:blip r:embed="rId3">
            <a:alphaModFix/>
          </a:blip>
          <a:stretch>
            <a:fillRect/>
          </a:stretch>
        </p:blipFill>
        <p:spPr>
          <a:xfrm>
            <a:off x="7254725" y="1690700"/>
            <a:ext cx="3123825" cy="2081200"/>
          </a:xfrm>
          <a:prstGeom prst="rect">
            <a:avLst/>
          </a:prstGeom>
          <a:noFill/>
          <a:ln>
            <a:noFill/>
          </a:ln>
        </p:spPr>
      </p:pic>
      <p:pic>
        <p:nvPicPr>
          <p:cNvPr id="121" name="Google Shape;121;p17" title="Screenshot 2026-06-19 152104.png"/>
          <p:cNvPicPr preferRelativeResize="0"/>
          <p:nvPr/>
        </p:nvPicPr>
        <p:blipFill>
          <a:blip r:embed="rId4">
            <a:alphaModFix/>
          </a:blip>
          <a:stretch>
            <a:fillRect/>
          </a:stretch>
        </p:blipFill>
        <p:spPr>
          <a:xfrm>
            <a:off x="7254725" y="3984459"/>
            <a:ext cx="3123825" cy="200817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8"/>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Goals &amp; Actions</a:t>
            </a:r>
            <a:endParaRPr/>
          </a:p>
        </p:txBody>
      </p:sp>
      <p:sp>
        <p:nvSpPr>
          <p:cNvPr id="127" name="Google Shape;127;p18"/>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lang="en-US"/>
              <a:t>Goals</a:t>
            </a:r>
            <a:endParaRPr/>
          </a:p>
        </p:txBody>
      </p:sp>
      <p:sp>
        <p:nvSpPr>
          <p:cNvPr id="128" name="Google Shape;128;p18"/>
          <p:cNvSpPr txBox="1"/>
          <p:nvPr>
            <p:ph idx="2" type="body"/>
          </p:nvPr>
        </p:nvSpPr>
        <p:spPr>
          <a:xfrm>
            <a:off x="839788" y="2505075"/>
            <a:ext cx="5157787" cy="3987800"/>
          </a:xfrm>
          <a:prstGeom prst="rect">
            <a:avLst/>
          </a:prstGeom>
          <a:noFill/>
          <a:ln>
            <a:noFill/>
          </a:ln>
        </p:spPr>
        <p:txBody>
          <a:bodyPr anchorCtr="0" anchor="t" bIns="45700" lIns="91425" spcFirstLastPara="1" rIns="91425" wrap="square" tIns="45700">
            <a:normAutofit fontScale="40000" lnSpcReduction="20000"/>
          </a:bodyPr>
          <a:lstStyle/>
          <a:p>
            <a:pPr indent="-228600" lvl="0" marL="228600" rtl="0" algn="l">
              <a:lnSpc>
                <a:spcPct val="170000"/>
              </a:lnSpc>
              <a:spcBef>
                <a:spcPts val="0"/>
              </a:spcBef>
              <a:spcAft>
                <a:spcPts val="0"/>
              </a:spcAft>
              <a:buClr>
                <a:schemeClr val="dk1"/>
              </a:buClr>
              <a:buSzPct val="100000"/>
              <a:buChar char="•"/>
            </a:pPr>
            <a:r>
              <a:rPr b="1" lang="en-US"/>
              <a:t>Increase Conversion Rates:</a:t>
            </a:r>
            <a:endParaRPr/>
          </a:p>
          <a:p>
            <a:pPr indent="-228600" lvl="1" marL="685800" rtl="0" algn="l">
              <a:lnSpc>
                <a:spcPct val="170000"/>
              </a:lnSpc>
              <a:spcBef>
                <a:spcPts val="500"/>
              </a:spcBef>
              <a:spcAft>
                <a:spcPts val="0"/>
              </a:spcAft>
              <a:buClr>
                <a:schemeClr val="dk1"/>
              </a:buClr>
              <a:buSzPct val="100000"/>
              <a:buChar char="•"/>
            </a:pPr>
            <a:r>
              <a:rPr b="1" lang="en-US"/>
              <a:t>Goal: </a:t>
            </a:r>
            <a:r>
              <a:rPr lang="en-US"/>
              <a:t>Identify factors impacting the conversion rate and provide recommendations to improve it.</a:t>
            </a:r>
            <a:endParaRPr/>
          </a:p>
          <a:p>
            <a:pPr indent="-228600" lvl="1" marL="685800" rtl="0" algn="l">
              <a:lnSpc>
                <a:spcPct val="170000"/>
              </a:lnSpc>
              <a:spcBef>
                <a:spcPts val="500"/>
              </a:spcBef>
              <a:spcAft>
                <a:spcPts val="0"/>
              </a:spcAft>
              <a:buClr>
                <a:schemeClr val="dk1"/>
              </a:buClr>
              <a:buSzPct val="100000"/>
              <a:buChar char="•"/>
            </a:pPr>
            <a:r>
              <a:rPr b="1" lang="en-US"/>
              <a:t>Insight: </a:t>
            </a:r>
            <a:r>
              <a:rPr lang="en-US"/>
              <a:t>Highlight key stages where visitors drop off and suggest improvements to optimize the conversion funnel.</a:t>
            </a:r>
            <a:endParaRPr/>
          </a:p>
          <a:p>
            <a:pPr indent="-228600" lvl="0" marL="228600" rtl="0" algn="l">
              <a:lnSpc>
                <a:spcPct val="170000"/>
              </a:lnSpc>
              <a:spcBef>
                <a:spcPts val="1000"/>
              </a:spcBef>
              <a:spcAft>
                <a:spcPts val="0"/>
              </a:spcAft>
              <a:buClr>
                <a:schemeClr val="dk1"/>
              </a:buClr>
              <a:buSzPct val="100000"/>
              <a:buChar char="•"/>
            </a:pPr>
            <a:r>
              <a:rPr b="1" lang="en-US"/>
              <a:t>Enhance Customer Engagement:</a:t>
            </a:r>
            <a:endParaRPr/>
          </a:p>
          <a:p>
            <a:pPr indent="-228600" lvl="1" marL="685800" rtl="0" algn="l">
              <a:lnSpc>
                <a:spcPct val="170000"/>
              </a:lnSpc>
              <a:spcBef>
                <a:spcPts val="500"/>
              </a:spcBef>
              <a:spcAft>
                <a:spcPts val="0"/>
              </a:spcAft>
              <a:buClr>
                <a:schemeClr val="dk1"/>
              </a:buClr>
              <a:buSzPct val="100000"/>
              <a:buChar char="•"/>
            </a:pPr>
            <a:r>
              <a:rPr b="1" lang="en-US"/>
              <a:t>Goal:</a:t>
            </a:r>
            <a:r>
              <a:rPr lang="en-US"/>
              <a:t> Determine which types of content drive the highest engagement. </a:t>
            </a:r>
            <a:endParaRPr/>
          </a:p>
          <a:p>
            <a:pPr indent="-228600" lvl="1" marL="685800" rtl="0" algn="l">
              <a:lnSpc>
                <a:spcPct val="170000"/>
              </a:lnSpc>
              <a:spcBef>
                <a:spcPts val="500"/>
              </a:spcBef>
              <a:spcAft>
                <a:spcPts val="0"/>
              </a:spcAft>
              <a:buClr>
                <a:schemeClr val="dk1"/>
              </a:buClr>
              <a:buSzPct val="100000"/>
              <a:buChar char="•"/>
            </a:pPr>
            <a:r>
              <a:rPr b="1" lang="en-US"/>
              <a:t>Insight:</a:t>
            </a:r>
            <a:r>
              <a:rPr lang="en-US"/>
              <a:t> Analyze interaction levels with different types of marketing content to inform better content strategies.</a:t>
            </a:r>
            <a:endParaRPr/>
          </a:p>
          <a:p>
            <a:pPr indent="-228600" lvl="0" marL="228600" rtl="0" algn="l">
              <a:lnSpc>
                <a:spcPct val="170000"/>
              </a:lnSpc>
              <a:spcBef>
                <a:spcPts val="1000"/>
              </a:spcBef>
              <a:spcAft>
                <a:spcPts val="0"/>
              </a:spcAft>
              <a:buClr>
                <a:schemeClr val="dk1"/>
              </a:buClr>
              <a:buSzPct val="100000"/>
              <a:buChar char="•"/>
            </a:pPr>
            <a:r>
              <a:rPr b="1" lang="en-US"/>
              <a:t>Improve Customer Feedback Scores:</a:t>
            </a:r>
            <a:endParaRPr/>
          </a:p>
          <a:p>
            <a:pPr indent="-228600" lvl="1" marL="685800" rtl="0" algn="l">
              <a:lnSpc>
                <a:spcPct val="170000"/>
              </a:lnSpc>
              <a:spcBef>
                <a:spcPts val="500"/>
              </a:spcBef>
              <a:spcAft>
                <a:spcPts val="0"/>
              </a:spcAft>
              <a:buClr>
                <a:schemeClr val="dk1"/>
              </a:buClr>
              <a:buSzPct val="100000"/>
              <a:buChar char="•"/>
            </a:pPr>
            <a:r>
              <a:rPr b="1" lang="en-US"/>
              <a:t>Goal:</a:t>
            </a:r>
            <a:r>
              <a:rPr lang="en-US"/>
              <a:t> Understand common themes in customer reviews and provide actionable insights.</a:t>
            </a:r>
            <a:endParaRPr/>
          </a:p>
          <a:p>
            <a:pPr indent="-228600" lvl="1" marL="685800" rtl="0" algn="l">
              <a:lnSpc>
                <a:spcPct val="170000"/>
              </a:lnSpc>
              <a:spcBef>
                <a:spcPts val="500"/>
              </a:spcBef>
              <a:spcAft>
                <a:spcPts val="0"/>
              </a:spcAft>
              <a:buClr>
                <a:schemeClr val="dk1"/>
              </a:buClr>
              <a:buSzPct val="100000"/>
              <a:buChar char="•"/>
            </a:pPr>
            <a:r>
              <a:rPr b="1" lang="en-US"/>
              <a:t>Insight:</a:t>
            </a:r>
            <a:r>
              <a:rPr lang="en-US"/>
              <a:t> Identify recurring positive and negative feedback to guide product and service improvements.</a:t>
            </a:r>
            <a:endParaRPr/>
          </a:p>
        </p:txBody>
      </p:sp>
      <p:sp>
        <p:nvSpPr>
          <p:cNvPr id="129" name="Google Shape;129;p18"/>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lang="en-US"/>
              <a:t>Actions</a:t>
            </a:r>
            <a:endParaRPr/>
          </a:p>
        </p:txBody>
      </p:sp>
      <p:sp>
        <p:nvSpPr>
          <p:cNvPr id="130" name="Google Shape;130;p18"/>
          <p:cNvSpPr txBox="1"/>
          <p:nvPr>
            <p:ph idx="4" type="body"/>
          </p:nvPr>
        </p:nvSpPr>
        <p:spPr>
          <a:xfrm>
            <a:off x="6172200" y="2505075"/>
            <a:ext cx="5183188" cy="4211984"/>
          </a:xfrm>
          <a:prstGeom prst="rect">
            <a:avLst/>
          </a:prstGeom>
          <a:noFill/>
          <a:ln>
            <a:noFill/>
          </a:ln>
        </p:spPr>
        <p:txBody>
          <a:bodyPr anchorCtr="0" anchor="t" bIns="45700" lIns="91425" spcFirstLastPara="1" rIns="91425" wrap="square" tIns="45700">
            <a:noAutofit/>
          </a:bodyPr>
          <a:lstStyle/>
          <a:p>
            <a:pPr indent="-228600" lvl="0" marL="228600" rtl="0" algn="l">
              <a:lnSpc>
                <a:spcPct val="120000"/>
              </a:lnSpc>
              <a:spcBef>
                <a:spcPts val="0"/>
              </a:spcBef>
              <a:spcAft>
                <a:spcPts val="0"/>
              </a:spcAft>
              <a:buClr>
                <a:schemeClr val="dk1"/>
              </a:buClr>
              <a:buSzPts val="900"/>
              <a:buChar char="•"/>
            </a:pPr>
            <a:r>
              <a:rPr b="1" lang="en-US" sz="900"/>
              <a:t>Increase Conversion Rates:</a:t>
            </a:r>
            <a:endParaRPr/>
          </a:p>
          <a:p>
            <a:pPr indent="-228600" lvl="1" marL="685800" rtl="0" algn="l">
              <a:lnSpc>
                <a:spcPct val="120000"/>
              </a:lnSpc>
              <a:spcBef>
                <a:spcPts val="500"/>
              </a:spcBef>
              <a:spcAft>
                <a:spcPts val="0"/>
              </a:spcAft>
              <a:buClr>
                <a:schemeClr val="dk1"/>
              </a:buClr>
              <a:buSzPts val="900"/>
              <a:buChar char="•"/>
            </a:pPr>
            <a:r>
              <a:rPr lang="en-US" sz="900" u="sng"/>
              <a:t>Target High-Performing Product Categories</a:t>
            </a:r>
            <a:r>
              <a:rPr lang="en-US" sz="900"/>
              <a:t>: Focus marketing efforts on products with demonstrated high conversion rates, such as Kayaks, Ski Boots, and Baseball Gloves. Implement seasonal promotions or personalized campaigns during peak months (e.g., January and September) to capitalize on these trends.</a:t>
            </a:r>
            <a:endParaRPr/>
          </a:p>
          <a:p>
            <a:pPr indent="-171450" lvl="1" marL="685800" rtl="0" algn="l">
              <a:lnSpc>
                <a:spcPct val="120000"/>
              </a:lnSpc>
              <a:spcBef>
                <a:spcPts val="500"/>
              </a:spcBef>
              <a:spcAft>
                <a:spcPts val="0"/>
              </a:spcAft>
              <a:buClr>
                <a:schemeClr val="dk1"/>
              </a:buClr>
              <a:buSzPts val="900"/>
              <a:buNone/>
            </a:pPr>
            <a:r>
              <a:t/>
            </a:r>
            <a:endParaRPr sz="900"/>
          </a:p>
          <a:p>
            <a:pPr indent="-228600" lvl="0" marL="228600" rtl="0" algn="l">
              <a:lnSpc>
                <a:spcPct val="120000"/>
              </a:lnSpc>
              <a:spcBef>
                <a:spcPts val="1000"/>
              </a:spcBef>
              <a:spcAft>
                <a:spcPts val="0"/>
              </a:spcAft>
              <a:buClr>
                <a:schemeClr val="dk1"/>
              </a:buClr>
              <a:buSzPts val="900"/>
              <a:buChar char="•"/>
            </a:pPr>
            <a:r>
              <a:rPr b="1" lang="en-US" sz="900"/>
              <a:t>Enhance Customer Engagement:</a:t>
            </a:r>
            <a:endParaRPr/>
          </a:p>
          <a:p>
            <a:pPr indent="-228600" lvl="1" marL="685800" rtl="0" algn="l">
              <a:lnSpc>
                <a:spcPct val="120000"/>
              </a:lnSpc>
              <a:spcBef>
                <a:spcPts val="500"/>
              </a:spcBef>
              <a:spcAft>
                <a:spcPts val="0"/>
              </a:spcAft>
              <a:buClr>
                <a:schemeClr val="dk1"/>
              </a:buClr>
              <a:buSzPts val="900"/>
              <a:buChar char="•"/>
            </a:pPr>
            <a:r>
              <a:rPr lang="en-US" sz="900" u="sng"/>
              <a:t>Revitalize Content Strategy</a:t>
            </a:r>
            <a:r>
              <a:rPr lang="en-US" sz="900"/>
              <a:t>: To turn around declining views and low interaction rates, experiment with more engaging content formats, such as interactive videos or user-generated content. Additionally, boost engagement by optimizing call-to-action placement in social media and blog content, particularly during historically lower-engagement months (September-December).</a:t>
            </a:r>
            <a:endParaRPr/>
          </a:p>
          <a:p>
            <a:pPr indent="-171450" lvl="1" marL="685800" rtl="0" algn="l">
              <a:lnSpc>
                <a:spcPct val="120000"/>
              </a:lnSpc>
              <a:spcBef>
                <a:spcPts val="500"/>
              </a:spcBef>
              <a:spcAft>
                <a:spcPts val="0"/>
              </a:spcAft>
              <a:buClr>
                <a:schemeClr val="dk1"/>
              </a:buClr>
              <a:buSzPts val="900"/>
              <a:buNone/>
            </a:pPr>
            <a:r>
              <a:t/>
            </a:r>
            <a:endParaRPr sz="900"/>
          </a:p>
          <a:p>
            <a:pPr indent="-228600" lvl="0" marL="228600" rtl="0" algn="l">
              <a:lnSpc>
                <a:spcPct val="120000"/>
              </a:lnSpc>
              <a:spcBef>
                <a:spcPts val="1000"/>
              </a:spcBef>
              <a:spcAft>
                <a:spcPts val="0"/>
              </a:spcAft>
              <a:buClr>
                <a:schemeClr val="dk1"/>
              </a:buClr>
              <a:buSzPts val="900"/>
              <a:buChar char="•"/>
            </a:pPr>
            <a:r>
              <a:rPr b="1" lang="en-US" sz="900"/>
              <a:t>Improve Customer Feedback Scores:</a:t>
            </a:r>
            <a:endParaRPr/>
          </a:p>
          <a:p>
            <a:pPr indent="-228600" lvl="1" marL="685800" rtl="0" algn="l">
              <a:lnSpc>
                <a:spcPct val="120000"/>
              </a:lnSpc>
              <a:spcBef>
                <a:spcPts val="500"/>
              </a:spcBef>
              <a:spcAft>
                <a:spcPts val="0"/>
              </a:spcAft>
              <a:buClr>
                <a:schemeClr val="dk1"/>
              </a:buClr>
              <a:buSzPts val="900"/>
              <a:buChar char="•"/>
            </a:pPr>
            <a:r>
              <a:rPr lang="en-US" sz="900" u="sng"/>
              <a:t>Address Mixed and Negative Feedback: </a:t>
            </a:r>
            <a:r>
              <a:rPr lang="en-US" sz="900"/>
              <a:t>Implement a feedback loop where mixed and negative reviews are analyzed to identify common issues. Develop improvement plans to address these concerns. Consider following up with dissatisfied customers to resolve issues and encourage re-rating, aiming to move average ratings closer to the 4.0 target.</a:t>
            </a:r>
            <a:endParaRPr sz="90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