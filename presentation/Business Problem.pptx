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lay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Play-bold.fntdata"/><Relationship Id="rId10" Type="http://schemas.openxmlformats.org/officeDocument/2006/relationships/font" Target="fonts/Play-regular.fnt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b="1" lang="en-US"/>
              <a:t>E-Commerce Growth Intelligence: A Data Analysis Case Study</a:t>
            </a:r>
            <a:endParaRPr b="1"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Data Analytics Portfolio Project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Harshad Deshmukh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Overview of the Business Challenge</a:t>
            </a:r>
            <a:endParaRPr b="1"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838200" y="1843209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10000"/>
          </a:bodyPr>
          <a:lstStyle/>
          <a:p>
            <a:pPr indent="-235506" lvl="0" marL="2286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471"/>
              <a:t>Shopeasy</a:t>
            </a:r>
            <a:r>
              <a:rPr lang="en-US" sz="3471"/>
              <a:t>,</a:t>
            </a:r>
            <a:r>
              <a:rPr lang="en-US" sz="3471"/>
              <a:t> a fast-growing online retail platform, is experiencing a decline in customer engagement and purchase conversion rates despite rolling out multiple new digital marketing initiatives. </a:t>
            </a:r>
            <a:endParaRPr sz="3471"/>
          </a:p>
          <a:p>
            <a:pPr indent="0" lvl="0" marL="2286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71"/>
          </a:p>
          <a:p>
            <a:pPr indent="-235506" lvl="0" marL="2286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471"/>
              <a:t>Key Points:</a:t>
            </a:r>
            <a:endParaRPr sz="3471"/>
          </a:p>
          <a:p>
            <a:pPr indent="-237411" lvl="1" marL="685800" rtl="0" algn="l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071"/>
              <a:t>Declining User Engagement:</a:t>
            </a:r>
            <a:r>
              <a:rPr lang="en-US" sz="3071"/>
              <a:t> Website visits, clicks, and interactions with marketing content have dropped significantly.</a:t>
            </a:r>
            <a:endParaRPr sz="3071"/>
          </a:p>
          <a:p>
            <a:pPr indent="-237411" lvl="1" marL="685800" rtl="0" algn="l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071"/>
              <a:t>Falling Purchase Conversion Rates:</a:t>
            </a:r>
            <a:r>
              <a:rPr lang="en-US" sz="3071"/>
              <a:t> A growing share of site visitors are browsing without completing a purchase.</a:t>
            </a:r>
            <a:endParaRPr sz="3071"/>
          </a:p>
          <a:p>
            <a:pPr indent="-237411" lvl="1" marL="685800" rtl="0" algn="l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071"/>
              <a:t>High Marketing </a:t>
            </a:r>
            <a:r>
              <a:rPr b="1" lang="en-US" sz="3071"/>
              <a:t>Campaign Costs:</a:t>
            </a:r>
            <a:r>
              <a:rPr lang="en-US" sz="3071"/>
              <a:t> Heavy spending on digital advertising and promotions is not translating into proportional revenue growth.</a:t>
            </a:r>
            <a:endParaRPr sz="3071"/>
          </a:p>
          <a:p>
            <a:pPr indent="-217170" lvl="1" marL="685800" rtl="0" algn="l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78149"/>
              <a:buChar char="•"/>
            </a:pPr>
            <a:r>
              <a:rPr b="1" lang="en-US" sz="3071"/>
              <a:t>Customer Feedback Analysis Required:</a:t>
            </a:r>
            <a:r>
              <a:rPr lang="en-US" sz="3071"/>
              <a:t> Analysing customer reviews and feedback is essential to understand pain points and rebuild engagement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Key Performance Indicators (KPIs)</a:t>
            </a:r>
            <a:endParaRPr b="1"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15265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Conversion Rate: </a:t>
            </a:r>
            <a:r>
              <a:rPr lang="en-US"/>
              <a:t>Percentage of website visitors who complete a purchase transaction.</a:t>
            </a:r>
            <a:endParaRPr/>
          </a:p>
          <a:p>
            <a:pPr indent="-215265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Customer Engagement Rate: </a:t>
            </a:r>
            <a:r>
              <a:rPr lang="en-US"/>
              <a:t>Measures how actively users interact with marketing materials across channels (</a:t>
            </a:r>
            <a:r>
              <a:rPr lang="en-US"/>
              <a:t>clicks, likes, comments</a:t>
            </a:r>
            <a:r>
              <a:rPr lang="en-US"/>
              <a:t>).</a:t>
            </a:r>
            <a:endParaRPr/>
          </a:p>
          <a:p>
            <a:pPr indent="-215265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Average Order Value (AOV): </a:t>
            </a:r>
            <a:r>
              <a:rPr lang="en-US"/>
              <a:t>Average amount spent by a customer per transaction.</a:t>
            </a:r>
            <a:endParaRPr/>
          </a:p>
          <a:p>
            <a:pPr indent="-215265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Customer Feedback Score: </a:t>
            </a:r>
            <a:r>
              <a:rPr lang="en-US"/>
              <a:t>Composite score derived from customer review ratings and sentiment across platforms.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Project Objectives</a:t>
            </a:r>
            <a:endParaRPr b="1"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838200" y="1528175"/>
            <a:ext cx="10515600" cy="48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/>
          </a:bodyPr>
          <a:lstStyle/>
          <a:p>
            <a:pPr indent="-225425" lvl="0" marL="2286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n-US"/>
              <a:t>Increase Conversion Rates:</a:t>
            </a:r>
            <a:endParaRPr/>
          </a:p>
          <a:p>
            <a:pPr indent="-209550" lvl="1" marL="685800" rtl="0" algn="l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b="1" lang="en-US"/>
              <a:t>Goal: </a:t>
            </a:r>
            <a:r>
              <a:rPr lang="en-US"/>
              <a:t>Identify factors impacting the conversion rate and provide recommendations to improve it.</a:t>
            </a:r>
            <a:endParaRPr/>
          </a:p>
          <a:p>
            <a:pPr indent="-209550" lvl="1" marL="685800" rtl="0" algn="l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b="1" lang="en-US"/>
              <a:t>Insight: </a:t>
            </a:r>
            <a:r>
              <a:rPr lang="en-US"/>
              <a:t>Highlight key stages where visitors drop off and suggest improvements to optimize the conversion funnel.</a:t>
            </a:r>
            <a:endParaRPr/>
          </a:p>
          <a:p>
            <a:pPr indent="-225425" lvl="0" marL="2286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b="1" lang="en-US"/>
              <a:t>Enhance Customer Engagement:</a:t>
            </a:r>
            <a:endParaRPr/>
          </a:p>
          <a:p>
            <a:pPr indent="-209550" lvl="1" marL="685800" rtl="0" algn="l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b="1" lang="en-US"/>
              <a:t>Goal:</a:t>
            </a:r>
            <a:r>
              <a:rPr lang="en-US"/>
              <a:t> Determine which types of content drive the highest engagement. </a:t>
            </a:r>
            <a:endParaRPr/>
          </a:p>
          <a:p>
            <a:pPr indent="-209550" lvl="1" marL="685800" rtl="0" algn="l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b="1" lang="en-US"/>
              <a:t>Insight:</a:t>
            </a:r>
            <a:r>
              <a:rPr lang="en-US"/>
              <a:t> Analyze interaction levels with different types of marketing content to inform better content strategies.</a:t>
            </a:r>
            <a:endParaRPr/>
          </a:p>
          <a:p>
            <a:pPr indent="-225425" lvl="0" marL="2286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b="1" lang="en-US"/>
              <a:t>Improve Customer Feedback Scores:</a:t>
            </a:r>
            <a:endParaRPr/>
          </a:p>
          <a:p>
            <a:pPr indent="-209550" lvl="1" marL="685800" rtl="0" algn="l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b="1" lang="en-US"/>
              <a:t>Goal:</a:t>
            </a:r>
            <a:r>
              <a:rPr lang="en-US"/>
              <a:t> Understand common themes in customer reviews and provide actionable insights.</a:t>
            </a:r>
            <a:endParaRPr/>
          </a:p>
          <a:p>
            <a:pPr indent="-209550" lvl="1" marL="685800" rtl="0" algn="l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b="1" lang="en-US"/>
              <a:t>Insight:</a:t>
            </a:r>
            <a:r>
              <a:rPr lang="en-US"/>
              <a:t> Identify recurring positive and negative feedback to guide product and service improvements.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